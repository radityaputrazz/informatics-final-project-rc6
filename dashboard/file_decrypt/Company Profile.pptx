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handoutMasterIdLst>
    <p:handoutMasterId r:id="rId18"/>
  </p:handoutMasterIdLst>
  <p:sldIdLst>
    <p:sldId id="256" r:id="rId2"/>
    <p:sldId id="275" r:id="rId3"/>
    <p:sldId id="281" r:id="rId4"/>
    <p:sldId id="274" r:id="rId5"/>
    <p:sldId id="278" r:id="rId6"/>
    <p:sldId id="262" r:id="rId7"/>
    <p:sldId id="263" r:id="rId8"/>
    <p:sldId id="267" r:id="rId9"/>
    <p:sldId id="265" r:id="rId10"/>
    <p:sldId id="266" r:id="rId11"/>
    <p:sldId id="264" r:id="rId12"/>
    <p:sldId id="260" r:id="rId13"/>
    <p:sldId id="279" r:id="rId14"/>
    <p:sldId id="280" r:id="rId15"/>
    <p:sldId id="261" r:id="rId16"/>
    <p:sldId id="276" r:id="rId17"/>
  </p:sldIdLst>
  <p:sldSz cx="9144000" cy="6858000" type="screen4x3"/>
  <p:notesSz cx="6888163" cy="100203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35" autoAdjust="0"/>
    <p:restoredTop sz="94660"/>
  </p:normalViewPr>
  <p:slideViewPr>
    <p:cSldViewPr>
      <p:cViewPr varScale="1">
        <p:scale>
          <a:sx n="69" d="100"/>
          <a:sy n="69" d="100"/>
        </p:scale>
        <p:origin x="1410"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5282" cy="501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01343" y="0"/>
            <a:ext cx="2985282" cy="501725"/>
          </a:xfrm>
          <a:prstGeom prst="rect">
            <a:avLst/>
          </a:prstGeom>
        </p:spPr>
        <p:txBody>
          <a:bodyPr vert="horz" lIns="91440" tIns="45720" rIns="91440" bIns="45720" rtlCol="0"/>
          <a:lstStyle>
            <a:lvl1pPr algn="r">
              <a:defRPr sz="1200"/>
            </a:lvl1pPr>
          </a:lstStyle>
          <a:p>
            <a:fld id="{3F6E0197-BC85-4BD5-B19E-9EB1A2421274}" type="datetimeFigureOut">
              <a:rPr lang="en-US" smtClean="0"/>
              <a:pPr/>
              <a:t>2/3/2020</a:t>
            </a:fld>
            <a:endParaRPr lang="en-US"/>
          </a:p>
        </p:txBody>
      </p:sp>
      <p:sp>
        <p:nvSpPr>
          <p:cNvPr id="4" name="Footer Placeholder 3"/>
          <p:cNvSpPr>
            <a:spLocks noGrp="1"/>
          </p:cNvSpPr>
          <p:nvPr>
            <p:ph type="ftr" sz="quarter" idx="2"/>
          </p:nvPr>
        </p:nvSpPr>
        <p:spPr>
          <a:xfrm>
            <a:off x="0" y="9516803"/>
            <a:ext cx="2985282" cy="501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01343" y="9516803"/>
            <a:ext cx="2985282" cy="501725"/>
          </a:xfrm>
          <a:prstGeom prst="rect">
            <a:avLst/>
          </a:prstGeom>
        </p:spPr>
        <p:txBody>
          <a:bodyPr vert="horz" lIns="91440" tIns="45720" rIns="91440" bIns="45720" rtlCol="0" anchor="b"/>
          <a:lstStyle>
            <a:lvl1pPr algn="r">
              <a:defRPr sz="1200"/>
            </a:lvl1pPr>
          </a:lstStyle>
          <a:p>
            <a:fld id="{33002634-22DF-43B0-A218-2ED05208628E}"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2/3/2020</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2/3/2020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2/3/2020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pPr/>
              <a:t>2/3/2020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2/3/2020</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3" Type="http://schemas.openxmlformats.org/officeDocument/2006/relationships/hyperlink" Target="mailto:reazakter78@gmail.com" TargetMode="External"/><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hyperlink" Target="mailto:asianpestcontrolbd@gmail.com"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8.jpeg"/><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l="14866" r="8943"/>
          <a:stretch/>
        </p:blipFill>
        <p:spPr>
          <a:xfrm>
            <a:off x="1367708" y="2822864"/>
            <a:ext cx="7014292" cy="3806536"/>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71600" y="533400"/>
            <a:ext cx="741298" cy="1037818"/>
          </a:xfrm>
          <a:prstGeom prst="rect">
            <a:avLst/>
          </a:prstGeom>
        </p:spPr>
      </p:pic>
      <p:sp>
        <p:nvSpPr>
          <p:cNvPr id="9" name="TextBox 8"/>
          <p:cNvSpPr txBox="1"/>
          <p:nvPr/>
        </p:nvSpPr>
        <p:spPr>
          <a:xfrm>
            <a:off x="2362280" y="698366"/>
            <a:ext cx="6276334" cy="707886"/>
          </a:xfrm>
          <a:prstGeom prst="rect">
            <a:avLst/>
          </a:prstGeom>
          <a:noFill/>
        </p:spPr>
        <p:txBody>
          <a:bodyPr wrap="none" rtlCol="0">
            <a:spAutoFit/>
          </a:bodyPr>
          <a:lstStyle/>
          <a:p>
            <a:r>
              <a:rPr lang="en-US" sz="4000" b="1" dirty="0" smtClean="0">
                <a:solidFill>
                  <a:srgbClr val="00B050"/>
                </a:solidFill>
              </a:rPr>
              <a:t>ASIAN PEST CONTROL</a:t>
            </a:r>
            <a:endParaRPr lang="en-US" sz="4000" b="1" dirty="0">
              <a:solidFill>
                <a:srgbClr val="00B050"/>
              </a:solidFill>
            </a:endParaRPr>
          </a:p>
        </p:txBody>
      </p:sp>
    </p:spTree>
  </p:cSld>
  <p:clrMapOvr>
    <a:masterClrMapping/>
  </p:clrMapOvr>
  <p:transition>
    <p:newsflash/>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7409" name="Rectangle 1"/>
          <p:cNvSpPr>
            <a:spLocks noChangeArrowheads="1"/>
          </p:cNvSpPr>
          <p:nvPr/>
        </p:nvSpPr>
        <p:spPr bwMode="auto">
          <a:xfrm>
            <a:off x="1787244" y="388582"/>
            <a:ext cx="6594755" cy="70788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600" b="0" i="0" u="none" strike="noStrike" cap="none" normalizeH="0" baseline="0" dirty="0" err="1" smtClean="0">
                <a:ln>
                  <a:noFill/>
                </a:ln>
                <a:solidFill>
                  <a:srgbClr val="00B050"/>
                </a:solidFill>
                <a:effectLst/>
                <a:latin typeface="Algerian" pitchFamily="82" charset="0"/>
                <a:ea typeface="Calibri" pitchFamily="34" charset="0"/>
                <a:cs typeface="Vrinda" pitchFamily="34" charset="0"/>
              </a:rPr>
              <a:t>asian</a:t>
            </a:r>
            <a:r>
              <a:rPr kumimoji="0" lang="en-US" sz="2600" b="0" i="0" u="none" strike="noStrike" cap="none" normalizeH="0" baseline="0" dirty="0" smtClean="0">
                <a:ln>
                  <a:noFill/>
                </a:ln>
                <a:solidFill>
                  <a:srgbClr val="00B050"/>
                </a:solidFill>
                <a:effectLst/>
                <a:latin typeface="Algerian" pitchFamily="82" charset="0"/>
                <a:ea typeface="Calibri" pitchFamily="34" charset="0"/>
                <a:cs typeface="Vrinda" pitchFamily="34" charset="0"/>
              </a:rPr>
              <a:t> </a:t>
            </a:r>
            <a:r>
              <a:rPr kumimoji="0" lang="en-US" sz="2600" b="0" i="0" u="none" strike="noStrike" cap="none" normalizeH="0" baseline="0" dirty="0" smtClean="0">
                <a:ln>
                  <a:noFill/>
                </a:ln>
                <a:solidFill>
                  <a:srgbClr val="00B050"/>
                </a:solidFill>
                <a:effectLst/>
                <a:latin typeface="Algerian" pitchFamily="82" charset="0"/>
                <a:ea typeface="Calibri" pitchFamily="34" charset="0"/>
                <a:cs typeface="Vrinda" pitchFamily="34" charset="0"/>
              </a:rPr>
              <a:t>PEST CONTROL </a:t>
            </a:r>
            <a:endParaRPr kumimoji="0" lang="en-US" sz="2600" b="0" i="0" u="none" strike="noStrike" cap="none" normalizeH="0" baseline="0" dirty="0" smtClean="0">
              <a:ln>
                <a:noFill/>
              </a:ln>
              <a:solidFill>
                <a:srgbClr val="00B050"/>
              </a:solidFill>
              <a:effectLst/>
              <a:latin typeface="Algerian" pitchFamily="82" charset="0"/>
              <a:ea typeface="Calibri" pitchFamily="34" charset="0"/>
              <a:cs typeface="Vrinda"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002060"/>
                </a:solidFill>
                <a:effectLst/>
                <a:latin typeface="Algerian" pitchFamily="82" charset="0"/>
                <a:ea typeface="Calibri" pitchFamily="34" charset="0"/>
                <a:cs typeface="Vrinda" pitchFamily="34" charset="0"/>
              </a:rPr>
              <a:t>(</a:t>
            </a:r>
            <a:r>
              <a:rPr kumimoji="0" lang="en-US" sz="1400" b="0" i="0" u="none" strike="noStrike" cap="none" normalizeH="0" baseline="0" dirty="0" smtClean="0">
                <a:ln>
                  <a:noFill/>
                </a:ln>
                <a:solidFill>
                  <a:srgbClr val="002060"/>
                </a:solidFill>
                <a:effectLst/>
                <a:latin typeface="Algerian" pitchFamily="82" charset="0"/>
                <a:ea typeface="Calibri" pitchFamily="34" charset="0"/>
                <a:cs typeface="Vrinda" pitchFamily="34" charset="0"/>
              </a:rPr>
              <a:t>Public health &amp; agriculture)</a:t>
            </a:r>
            <a:endParaRPr kumimoji="0" lang="en-US" sz="2000" b="0" i="0" u="none" strike="noStrike" cap="none" normalizeH="0" baseline="0" dirty="0" smtClean="0">
              <a:ln>
                <a:noFill/>
              </a:ln>
              <a:solidFill>
                <a:srgbClr val="002060"/>
              </a:solidFill>
              <a:effectLst/>
              <a:latin typeface="Arial" pitchFamily="34" charset="0"/>
              <a:cs typeface="Arial" pitchFamily="34" charset="0"/>
            </a:endParaRPr>
          </a:p>
        </p:txBody>
      </p:sp>
      <p:sp>
        <p:nvSpPr>
          <p:cNvPr id="17410" name="Rectangle 2"/>
          <p:cNvSpPr>
            <a:spLocks noChangeArrowheads="1"/>
          </p:cNvSpPr>
          <p:nvPr/>
        </p:nvSpPr>
        <p:spPr bwMode="auto">
          <a:xfrm>
            <a:off x="1295400" y="1298883"/>
            <a:ext cx="7391400" cy="243143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600" b="1" i="0" u="none" strike="noStrike" cap="none" normalizeH="0" baseline="0" dirty="0" smtClean="0">
                <a:ln>
                  <a:noFill/>
                </a:ln>
                <a:solidFill>
                  <a:srgbClr val="002060"/>
                </a:solidFill>
                <a:effectLst/>
                <a:latin typeface="Old English Text MT" pitchFamily="66" charset="0"/>
                <a:ea typeface="Times New Roman" pitchFamily="18" charset="0"/>
                <a:cs typeface="Vrinda" pitchFamily="34" charset="0"/>
              </a:rPr>
              <a:t>Mission Statement:</a:t>
            </a:r>
            <a:endParaRPr kumimoji="0" lang="en-US" sz="12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002060"/>
                </a:solidFill>
                <a:effectLst/>
                <a:latin typeface="Georgia" pitchFamily="18" charset="0"/>
                <a:ea typeface="Calibri" pitchFamily="34" charset="0"/>
                <a:cs typeface="Vrinda" pitchFamily="34" charset="0"/>
              </a:rPr>
              <a:t>Our ultimate goal is to be recognized as the best </a:t>
            </a:r>
            <a:r>
              <a:rPr kumimoji="0" lang="en-US" b="0" i="1" u="none" strike="noStrike" cap="none" normalizeH="0" baseline="0" dirty="0" smtClean="0">
                <a:ln>
                  <a:noFill/>
                </a:ln>
                <a:solidFill>
                  <a:srgbClr val="002060"/>
                </a:solidFill>
                <a:effectLst/>
                <a:latin typeface="Georgia" pitchFamily="18" charset="0"/>
                <a:ea typeface="Calibri" pitchFamily="34" charset="0"/>
                <a:cs typeface="Vrinda" pitchFamily="34" charset="0"/>
              </a:rPr>
              <a:t>“Pest Control”</a:t>
            </a:r>
            <a:r>
              <a:rPr kumimoji="0" lang="en-US" b="0" i="0" u="none" strike="noStrike" cap="none" normalizeH="0" baseline="0" dirty="0" smtClean="0">
                <a:ln>
                  <a:noFill/>
                </a:ln>
                <a:solidFill>
                  <a:srgbClr val="002060"/>
                </a:solidFill>
                <a:effectLst/>
                <a:latin typeface="Georgia" pitchFamily="18" charset="0"/>
                <a:ea typeface="Calibri" pitchFamily="34" charset="0"/>
                <a:cs typeface="Vrinda" pitchFamily="34" charset="0"/>
              </a:rPr>
              <a:t> service company in our industry. Our mission is to protect you, your family and your valuable assets with highly trained pest management professionals. Our primary concern will be safety and care of all personnel and the environment during the execution of our tasks. To be a leading provider of top quality pest control service by offering professionally managed pest control technicians.</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
        <p:nvSpPr>
          <p:cNvPr id="17411" name="Rectangle 3"/>
          <p:cNvSpPr>
            <a:spLocks noChangeArrowheads="1"/>
          </p:cNvSpPr>
          <p:nvPr/>
        </p:nvSpPr>
        <p:spPr bwMode="auto">
          <a:xfrm>
            <a:off x="1316180" y="4241631"/>
            <a:ext cx="7391400" cy="187743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eaLnBrk="1" fontAlgn="base" hangingPunct="1">
              <a:spcBef>
                <a:spcPct val="0"/>
              </a:spcBef>
              <a:spcAft>
                <a:spcPct val="0"/>
              </a:spcAft>
            </a:pPr>
            <a:r>
              <a:rPr lang="en-US" sz="2600" b="1" dirty="0" smtClean="0">
                <a:solidFill>
                  <a:srgbClr val="002060"/>
                </a:solidFill>
                <a:latin typeface="Old English Text MT" pitchFamily="66" charset="0"/>
                <a:ea typeface="Times New Roman" pitchFamily="18" charset="0"/>
                <a:cs typeface="Vrinda" pitchFamily="34" charset="0"/>
              </a:rPr>
              <a:t>Vision:</a:t>
            </a:r>
          </a:p>
          <a:p>
            <a:pPr algn="just" eaLnBrk="0" fontAlgn="base" hangingPunct="0">
              <a:spcBef>
                <a:spcPct val="0"/>
              </a:spcBef>
              <a:spcAft>
                <a:spcPct val="0"/>
              </a:spcAft>
            </a:pPr>
            <a:r>
              <a:rPr lang="en-US" dirty="0" smtClean="0">
                <a:solidFill>
                  <a:srgbClr val="002060"/>
                </a:solidFill>
                <a:latin typeface="Georgia" pitchFamily="18" charset="0"/>
                <a:ea typeface="Calibri" pitchFamily="34" charset="0"/>
                <a:cs typeface="Vrinda" pitchFamily="34" charset="0"/>
              </a:rPr>
              <a:t>To make quality pest control services available to all, operating with reliability, effectiveness, customer-orientation and great value for money through science and technology. </a:t>
            </a:r>
            <a:r>
              <a:rPr lang="en-US" dirty="0" smtClean="0">
                <a:solidFill>
                  <a:srgbClr val="002060"/>
                </a:solidFill>
                <a:latin typeface="Georgia" pitchFamily="18" charset="0"/>
                <a:ea typeface="Calibri" pitchFamily="34" charset="0"/>
                <a:cs typeface="Vrinda" pitchFamily="34" charset="0"/>
              </a:rPr>
              <a:t>Asian </a:t>
            </a:r>
            <a:r>
              <a:rPr lang="en-US" dirty="0" smtClean="0">
                <a:solidFill>
                  <a:srgbClr val="002060"/>
                </a:solidFill>
                <a:latin typeface="Georgia" pitchFamily="18" charset="0"/>
                <a:ea typeface="Calibri" pitchFamily="34" charset="0"/>
                <a:cs typeface="Vrinda" pitchFamily="34" charset="0"/>
              </a:rPr>
              <a:t>Pest control </a:t>
            </a:r>
            <a:r>
              <a:rPr lang="en-US" dirty="0" smtClean="0">
                <a:solidFill>
                  <a:srgbClr val="002060"/>
                </a:solidFill>
                <a:latin typeface="Georgia" pitchFamily="18" charset="0"/>
                <a:ea typeface="Calibri" pitchFamily="34" charset="0"/>
                <a:cs typeface="Vrinda" pitchFamily="34" charset="0"/>
              </a:rPr>
              <a:t>will </a:t>
            </a:r>
            <a:r>
              <a:rPr lang="en-US" dirty="0" smtClean="0">
                <a:solidFill>
                  <a:srgbClr val="002060"/>
                </a:solidFill>
                <a:latin typeface="Georgia" pitchFamily="18" charset="0"/>
                <a:ea typeface="Calibri" pitchFamily="34" charset="0"/>
                <a:cs typeface="Vrinda" pitchFamily="34" charset="0"/>
              </a:rPr>
              <a:t>be the leading pest control business with the highest level of customer service and professionalism by 2020. </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902" y="76200"/>
            <a:ext cx="741298" cy="1037818"/>
          </a:xfrm>
          <a:prstGeom prst="rect">
            <a:avLst/>
          </a:prstGeom>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3102" y="105182"/>
            <a:ext cx="741298" cy="1037818"/>
          </a:xfrm>
          <a:prstGeom prst="rect">
            <a:avLst/>
          </a:prstGeom>
        </p:spPr>
      </p:pic>
      <p:sp>
        <p:nvSpPr>
          <p:cNvPr id="2" name="TextBox 1"/>
          <p:cNvSpPr txBox="1"/>
          <p:nvPr/>
        </p:nvSpPr>
        <p:spPr>
          <a:xfrm>
            <a:off x="1579932" y="838200"/>
            <a:ext cx="6884706" cy="1323439"/>
          </a:xfrm>
          <a:prstGeom prst="rect">
            <a:avLst/>
          </a:prstGeom>
          <a:noFill/>
        </p:spPr>
        <p:txBody>
          <a:bodyPr wrap="none" rtlCol="0">
            <a:spAutoFit/>
          </a:bodyPr>
          <a:lstStyle/>
          <a:p>
            <a:pPr algn="ctr"/>
            <a:r>
              <a:rPr lang="en-US" sz="3600" b="1" dirty="0" smtClean="0">
                <a:solidFill>
                  <a:schemeClr val="tx2">
                    <a:lumMod val="60000"/>
                    <a:lumOff val="40000"/>
                  </a:schemeClr>
                </a:solidFill>
              </a:rPr>
              <a:t>PROFILE OF </a:t>
            </a:r>
          </a:p>
          <a:p>
            <a:pPr algn="ctr"/>
            <a:r>
              <a:rPr lang="en-US" sz="4400" b="1" dirty="0" smtClean="0">
                <a:solidFill>
                  <a:srgbClr val="00B050"/>
                </a:solidFill>
              </a:rPr>
              <a:t>ASIAN PEST CONTROL</a:t>
            </a:r>
            <a:endParaRPr lang="en-US" sz="4400" b="1" dirty="0">
              <a:solidFill>
                <a:srgbClr val="00B050"/>
              </a:solidFill>
            </a:endParaRPr>
          </a:p>
        </p:txBody>
      </p:sp>
      <p:sp>
        <p:nvSpPr>
          <p:cNvPr id="9" name="TextBox 8"/>
          <p:cNvSpPr txBox="1"/>
          <p:nvPr/>
        </p:nvSpPr>
        <p:spPr>
          <a:xfrm>
            <a:off x="1731841" y="3124200"/>
            <a:ext cx="6580886" cy="2308324"/>
          </a:xfrm>
          <a:prstGeom prst="rect">
            <a:avLst/>
          </a:prstGeom>
          <a:noFill/>
        </p:spPr>
        <p:txBody>
          <a:bodyPr wrap="square" rtlCol="0">
            <a:spAutoFit/>
          </a:bodyPr>
          <a:lstStyle/>
          <a:p>
            <a:pPr algn="ctr"/>
            <a:r>
              <a:rPr lang="en-US" sz="2400" b="1" dirty="0" smtClean="0">
                <a:solidFill>
                  <a:srgbClr val="00B0F0"/>
                </a:solidFill>
              </a:rPr>
              <a:t>OFFICE ADDRESS:</a:t>
            </a:r>
          </a:p>
          <a:p>
            <a:pPr algn="ctr"/>
            <a:r>
              <a:rPr lang="en-US" sz="2400" dirty="0" smtClean="0">
                <a:solidFill>
                  <a:srgbClr val="7030A0"/>
                </a:solidFill>
              </a:rPr>
              <a:t>Room # 510 (4</a:t>
            </a:r>
            <a:r>
              <a:rPr lang="en-US" sz="2400" baseline="30000" dirty="0" smtClean="0">
                <a:solidFill>
                  <a:srgbClr val="7030A0"/>
                </a:solidFill>
              </a:rPr>
              <a:t>th</a:t>
            </a:r>
            <a:r>
              <a:rPr lang="en-US" sz="2400" dirty="0" smtClean="0">
                <a:solidFill>
                  <a:srgbClr val="7030A0"/>
                </a:solidFill>
              </a:rPr>
              <a:t> Floor), Ibrahim Mansion, </a:t>
            </a:r>
          </a:p>
          <a:p>
            <a:pPr algn="ctr"/>
            <a:r>
              <a:rPr lang="en-US" sz="2400" dirty="0" smtClean="0">
                <a:solidFill>
                  <a:srgbClr val="7030A0"/>
                </a:solidFill>
              </a:rPr>
              <a:t>11, </a:t>
            </a:r>
            <a:r>
              <a:rPr lang="en-US" sz="2400" dirty="0" err="1" smtClean="0">
                <a:solidFill>
                  <a:srgbClr val="7030A0"/>
                </a:solidFill>
              </a:rPr>
              <a:t>Purana</a:t>
            </a:r>
            <a:r>
              <a:rPr lang="en-US" sz="2400" dirty="0" smtClean="0">
                <a:solidFill>
                  <a:srgbClr val="7030A0"/>
                </a:solidFill>
              </a:rPr>
              <a:t> </a:t>
            </a:r>
            <a:r>
              <a:rPr lang="en-US" sz="2400" dirty="0" err="1" smtClean="0">
                <a:solidFill>
                  <a:srgbClr val="7030A0"/>
                </a:solidFill>
              </a:rPr>
              <a:t>Paltan</a:t>
            </a:r>
            <a:r>
              <a:rPr lang="en-US" sz="2400" dirty="0" smtClean="0">
                <a:solidFill>
                  <a:srgbClr val="7030A0"/>
                </a:solidFill>
              </a:rPr>
              <a:t>, Dhaka-1000.</a:t>
            </a:r>
          </a:p>
          <a:p>
            <a:pPr algn="ctr"/>
            <a:r>
              <a:rPr lang="en-US" sz="2400" dirty="0" smtClean="0">
                <a:solidFill>
                  <a:srgbClr val="7030A0"/>
                </a:solidFill>
              </a:rPr>
              <a:t>Cell: 01720- 530844, 01919-530844, 01970-530844</a:t>
            </a:r>
          </a:p>
          <a:p>
            <a:pPr algn="ctr"/>
            <a:r>
              <a:rPr lang="en-US" sz="2400" dirty="0" smtClean="0">
                <a:solidFill>
                  <a:srgbClr val="7030A0"/>
                </a:solidFill>
              </a:rPr>
              <a:t>E-mail: </a:t>
            </a:r>
            <a:r>
              <a:rPr lang="en-US" sz="2400" dirty="0" smtClean="0">
                <a:solidFill>
                  <a:srgbClr val="7030A0"/>
                </a:solidFill>
                <a:hlinkClick r:id="rId3"/>
              </a:rPr>
              <a:t>reazakter78@gmail.com</a:t>
            </a:r>
            <a:r>
              <a:rPr lang="en-US" sz="2400" dirty="0" smtClean="0">
                <a:solidFill>
                  <a:srgbClr val="7030A0"/>
                </a:solidFill>
              </a:rPr>
              <a:t>, </a:t>
            </a:r>
            <a:r>
              <a:rPr lang="en-US" sz="2400" dirty="0" smtClean="0">
                <a:solidFill>
                  <a:srgbClr val="7030A0"/>
                </a:solidFill>
                <a:hlinkClick r:id="rId4"/>
              </a:rPr>
              <a:t>asianpestcontrolbd@gmail.com</a:t>
            </a:r>
            <a:endParaRPr lang="en-US" sz="2400" dirty="0" smtClean="0">
              <a:solidFill>
                <a:srgbClr val="7030A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402830" y="457200"/>
            <a:ext cx="7283970" cy="6172200"/>
            <a:chOff x="1402830" y="228600"/>
            <a:chExt cx="7283970" cy="6400800"/>
          </a:xfrm>
        </p:grpSpPr>
        <p:pic>
          <p:nvPicPr>
            <p:cNvPr id="2" name="Picture 1" descr="11.jpeg.png"/>
            <p:cNvPicPr>
              <a:picLocks noChangeAspect="1"/>
            </p:cNvPicPr>
            <p:nvPr/>
          </p:nvPicPr>
          <p:blipFill>
            <a:blip r:embed="rId2" cstate="print"/>
            <a:srcRect t="47778"/>
            <a:stretch>
              <a:fillRect/>
            </a:stretch>
          </p:blipFill>
          <p:spPr>
            <a:xfrm>
              <a:off x="1413178" y="1600200"/>
              <a:ext cx="7273622" cy="5029200"/>
            </a:xfrm>
            <a:prstGeom prst="rect">
              <a:avLst/>
            </a:prstGeom>
            <a:ln w="88900" cap="sq" cmpd="thickThin">
              <a:solidFill>
                <a:srgbClr val="000000"/>
              </a:solidFill>
              <a:prstDash val="solid"/>
              <a:miter lim="800000"/>
            </a:ln>
            <a:effectLst>
              <a:innerShdw blurRad="76200">
                <a:srgbClr val="000000"/>
              </a:innerShdw>
            </a:effectLst>
          </p:spPr>
        </p:pic>
        <p:pic>
          <p:nvPicPr>
            <p:cNvPr id="3" name="Picture 2" descr="11.jpeg.png"/>
            <p:cNvPicPr>
              <a:picLocks noChangeAspect="1"/>
            </p:cNvPicPr>
            <p:nvPr/>
          </p:nvPicPr>
          <p:blipFill>
            <a:blip r:embed="rId2" cstate="print"/>
            <a:srcRect t="3333" b="83333"/>
            <a:stretch>
              <a:fillRect/>
            </a:stretch>
          </p:blipFill>
          <p:spPr>
            <a:xfrm>
              <a:off x="1402830" y="228600"/>
              <a:ext cx="7283970" cy="1295400"/>
            </a:xfrm>
            <a:prstGeom prst="rect">
              <a:avLst/>
            </a:prstGeom>
            <a:ln w="88900" cap="sq" cmpd="thickThin">
              <a:solidFill>
                <a:srgbClr val="000000"/>
              </a:solidFill>
              <a:prstDash val="solid"/>
              <a:miter lim="800000"/>
            </a:ln>
            <a:effectLst>
              <a:innerShdw blurRad="76200">
                <a:srgbClr val="000000"/>
              </a:innerShdw>
            </a:effectLst>
          </p:spPr>
        </p:pic>
      </p:gr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76200"/>
            <a:ext cx="741298" cy="1037818"/>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ockroach-001.jpg"/>
          <p:cNvPicPr>
            <a:picLocks noChangeAspect="1"/>
          </p:cNvPicPr>
          <p:nvPr/>
        </p:nvPicPr>
        <p:blipFill>
          <a:blip r:embed="rId2" cstate="print"/>
          <a:stretch>
            <a:fillRect/>
          </a:stretch>
        </p:blipFill>
        <p:spPr>
          <a:xfrm>
            <a:off x="1385455" y="1066799"/>
            <a:ext cx="7246745" cy="4023360"/>
          </a:xfrm>
          <a:prstGeom prst="rect">
            <a:avLst/>
          </a:prstGeom>
          <a:ln w="38100" cap="sq">
            <a:solidFill>
              <a:srgbClr val="000000"/>
            </a:solidFill>
            <a:prstDash val="solid"/>
            <a:miter lim="800000"/>
          </a:ln>
          <a:effectLst/>
        </p:spPr>
      </p:pic>
      <p:sp>
        <p:nvSpPr>
          <p:cNvPr id="5" name="Title 5"/>
          <p:cNvSpPr txBox="1">
            <a:spLocks/>
          </p:cNvSpPr>
          <p:nvPr/>
        </p:nvSpPr>
        <p:spPr>
          <a:xfrm>
            <a:off x="1356666" y="5164146"/>
            <a:ext cx="7315200" cy="557784"/>
          </a:xfrm>
          <a:prstGeom prst="rect">
            <a:avLst/>
          </a:prstGeom>
        </p:spPr>
        <p:style>
          <a:lnRef idx="2">
            <a:schemeClr val="dk1"/>
          </a:lnRef>
          <a:fillRef idx="1">
            <a:schemeClr val="lt1"/>
          </a:fillRef>
          <a:effectRef idx="0">
            <a:schemeClr val="dk1"/>
          </a:effectRef>
          <a:fontRef idx="minor">
            <a:schemeClr val="dk1"/>
          </a:fontRef>
        </p:style>
        <p:txBody>
          <a:bodyP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dirty="0" smtClean="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rPr>
              <a:t>Cockroach control by spraying &amp; Gel treatment of Hotel, House, Office &amp; Restaurant etc.</a:t>
            </a:r>
            <a:endParaRPr kumimoji="0" lang="en-US" sz="4400" b="1" i="0" u="none" strike="noStrike" kern="1200" cap="none" spc="0" normalizeH="0" baseline="0" noProof="0" dirty="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76200"/>
            <a:ext cx="741298" cy="1037818"/>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rat-003.jpg"/>
          <p:cNvPicPr>
            <a:picLocks noChangeAspect="1"/>
          </p:cNvPicPr>
          <p:nvPr/>
        </p:nvPicPr>
        <p:blipFill>
          <a:blip r:embed="rId2" cstate="print"/>
          <a:srcRect l="10833" t="8545" r="12500"/>
          <a:stretch>
            <a:fillRect/>
          </a:stretch>
        </p:blipFill>
        <p:spPr>
          <a:xfrm>
            <a:off x="1295400" y="914400"/>
            <a:ext cx="7239000" cy="4114800"/>
          </a:xfrm>
          <a:prstGeom prst="rect">
            <a:avLst/>
          </a:prstGeom>
          <a:ln w="38100" cap="sq">
            <a:solidFill>
              <a:srgbClr val="000000"/>
            </a:solidFill>
            <a:prstDash val="solid"/>
            <a:miter lim="800000"/>
          </a:ln>
          <a:effectLst/>
        </p:spPr>
      </p:pic>
      <p:sp>
        <p:nvSpPr>
          <p:cNvPr id="5" name="Title 5"/>
          <p:cNvSpPr txBox="1">
            <a:spLocks/>
          </p:cNvSpPr>
          <p:nvPr/>
        </p:nvSpPr>
        <p:spPr>
          <a:xfrm>
            <a:off x="1304495" y="5110583"/>
            <a:ext cx="7243760" cy="590552"/>
          </a:xfrm>
          <a:prstGeom prst="rect">
            <a:avLst/>
          </a:prstGeom>
        </p:spPr>
        <p:style>
          <a:lnRef idx="2">
            <a:schemeClr val="dk1"/>
          </a:lnRef>
          <a:fillRef idx="1">
            <a:schemeClr val="lt1"/>
          </a:fillRef>
          <a:effectRef idx="0">
            <a:schemeClr val="dk1"/>
          </a:effectRef>
          <a:fontRef idx="minor">
            <a:schemeClr val="dk1"/>
          </a:fontRef>
        </p:style>
        <p:txBody>
          <a:bodyP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dirty="0" smtClean="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rPr>
              <a:t>Rodent control by Glue board, Snap trap &amp; Bromodialin position at house, office, factory, restaurant, hotel etc.</a:t>
            </a:r>
            <a:endParaRPr kumimoji="0" lang="en-US" sz="4400" b="1" i="0" u="none" strike="noStrike" kern="1200" cap="none" spc="0" normalizeH="0" baseline="0" noProof="0" dirty="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76200"/>
            <a:ext cx="741298" cy="1037818"/>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snake-005.jpg"/>
          <p:cNvPicPr>
            <a:picLocks noChangeAspect="1"/>
          </p:cNvPicPr>
          <p:nvPr/>
        </p:nvPicPr>
        <p:blipFill>
          <a:blip r:embed="rId2" cstate="print"/>
          <a:stretch>
            <a:fillRect/>
          </a:stretch>
        </p:blipFill>
        <p:spPr>
          <a:xfrm>
            <a:off x="1327869" y="914400"/>
            <a:ext cx="7162801" cy="4114800"/>
          </a:xfrm>
          <a:prstGeom prst="rect">
            <a:avLst/>
          </a:prstGeom>
          <a:ln w="38100" cap="sq">
            <a:solidFill>
              <a:srgbClr val="000000"/>
            </a:solidFill>
            <a:prstDash val="solid"/>
            <a:miter lim="800000"/>
          </a:ln>
          <a:effectLst/>
        </p:spPr>
      </p:pic>
      <p:sp>
        <p:nvSpPr>
          <p:cNvPr id="9" name="Title 5"/>
          <p:cNvSpPr txBox="1">
            <a:spLocks/>
          </p:cNvSpPr>
          <p:nvPr/>
        </p:nvSpPr>
        <p:spPr>
          <a:xfrm>
            <a:off x="1295400" y="5119250"/>
            <a:ext cx="7243760" cy="590552"/>
          </a:xfrm>
          <a:prstGeom prst="rect">
            <a:avLst/>
          </a:prstGeom>
        </p:spPr>
        <p:style>
          <a:lnRef idx="2">
            <a:schemeClr val="dk1"/>
          </a:lnRef>
          <a:fillRef idx="1">
            <a:schemeClr val="lt1"/>
          </a:fillRef>
          <a:effectRef idx="0">
            <a:schemeClr val="dk1"/>
          </a:effectRef>
          <a:fontRef idx="minor">
            <a:schemeClr val="dk1"/>
          </a:fontRef>
        </p:style>
        <p:txBody>
          <a:bodyP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dirty="0" smtClean="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rPr>
              <a:t>Snake repellant by Acid &amp; powder chemical treatment at out side of Hotel, House, Office Factory etc.</a:t>
            </a:r>
            <a:endParaRPr kumimoji="0" lang="en-US" sz="4400" b="1" i="0" u="none" strike="noStrike" kern="1200" cap="none" spc="0" normalizeH="0" baseline="0" noProof="0" dirty="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76200"/>
            <a:ext cx="741298" cy="1037818"/>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lizard-003.jpg"/>
          <p:cNvPicPr>
            <a:picLocks noChangeAspect="1"/>
          </p:cNvPicPr>
          <p:nvPr/>
        </p:nvPicPr>
        <p:blipFill>
          <a:blip r:embed="rId2" cstate="print"/>
          <a:srcRect t="20000" r="5833" b="8889"/>
          <a:stretch>
            <a:fillRect/>
          </a:stretch>
        </p:blipFill>
        <p:spPr>
          <a:xfrm>
            <a:off x="1295400" y="914400"/>
            <a:ext cx="7315200" cy="4114800"/>
          </a:xfrm>
          <a:prstGeom prst="rect">
            <a:avLst/>
          </a:prstGeom>
          <a:ln w="38100" cap="sq">
            <a:solidFill>
              <a:srgbClr val="000000"/>
            </a:solidFill>
            <a:prstDash val="solid"/>
            <a:miter lim="800000"/>
          </a:ln>
          <a:effectLst/>
        </p:spPr>
      </p:pic>
      <p:sp>
        <p:nvSpPr>
          <p:cNvPr id="8" name="Title 5"/>
          <p:cNvSpPr txBox="1">
            <a:spLocks/>
          </p:cNvSpPr>
          <p:nvPr/>
        </p:nvSpPr>
        <p:spPr>
          <a:xfrm>
            <a:off x="1290635" y="5119250"/>
            <a:ext cx="7354600" cy="590552"/>
          </a:xfrm>
          <a:prstGeom prst="rect">
            <a:avLst/>
          </a:prstGeom>
        </p:spPr>
        <p:style>
          <a:lnRef idx="2">
            <a:schemeClr val="dk1"/>
          </a:lnRef>
          <a:fillRef idx="1">
            <a:schemeClr val="lt1"/>
          </a:fillRef>
          <a:effectRef idx="0">
            <a:schemeClr val="dk1"/>
          </a:effectRef>
          <a:fontRef idx="minor">
            <a:schemeClr val="dk1"/>
          </a:fontRef>
        </p:style>
        <p:txBody>
          <a:bodyP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dirty="0" smtClean="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rPr>
              <a:t>Lizard control by – spraying &amp; Glue treatment at House,</a:t>
            </a:r>
            <a:r>
              <a:rPr kumimoji="0" lang="en-US" sz="1600" b="1" i="0" u="none" strike="noStrike" kern="1200" cap="none" spc="0" normalizeH="0" noProof="0" dirty="0" smtClean="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rPr>
              <a:t> Hotel, Restaurant, Kitchen etc.</a:t>
            </a:r>
            <a:endParaRPr kumimoji="0" lang="en-US" sz="4400" b="1" i="0" u="none" strike="noStrike" kern="1200" cap="none" spc="0" normalizeH="0" baseline="0" noProof="0" dirty="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76200"/>
            <a:ext cx="741298" cy="1037818"/>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flies-006.jpg"/>
          <p:cNvPicPr>
            <a:picLocks noChangeAspect="1"/>
          </p:cNvPicPr>
          <p:nvPr/>
        </p:nvPicPr>
        <p:blipFill>
          <a:blip r:embed="rId2" cstate="print"/>
          <a:srcRect r="20780" b="11367"/>
          <a:stretch>
            <a:fillRect/>
          </a:stretch>
        </p:blipFill>
        <p:spPr>
          <a:xfrm>
            <a:off x="1371600" y="914400"/>
            <a:ext cx="7315200" cy="4114800"/>
          </a:xfrm>
          <a:prstGeom prst="rect">
            <a:avLst/>
          </a:prstGeom>
          <a:ln w="38100" cap="sq">
            <a:solidFill>
              <a:srgbClr val="000000"/>
            </a:solidFill>
            <a:prstDash val="solid"/>
            <a:miter lim="800000"/>
          </a:ln>
          <a:effectLst/>
        </p:spPr>
      </p:pic>
      <p:sp>
        <p:nvSpPr>
          <p:cNvPr id="11" name="Title 5"/>
          <p:cNvSpPr txBox="1">
            <a:spLocks/>
          </p:cNvSpPr>
          <p:nvPr/>
        </p:nvSpPr>
        <p:spPr>
          <a:xfrm>
            <a:off x="1365342" y="5119250"/>
            <a:ext cx="7351035" cy="590552"/>
          </a:xfrm>
          <a:prstGeom prst="rect">
            <a:avLst/>
          </a:prstGeom>
        </p:spPr>
        <p:style>
          <a:lnRef idx="2">
            <a:schemeClr val="dk1"/>
          </a:lnRef>
          <a:fillRef idx="1">
            <a:schemeClr val="lt1"/>
          </a:fillRef>
          <a:effectRef idx="0">
            <a:schemeClr val="dk1"/>
          </a:effectRef>
          <a:fontRef idx="minor">
            <a:schemeClr val="dk1"/>
          </a:fontRef>
        </p:style>
        <p:txBody>
          <a:bodyP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dirty="0" smtClean="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rPr>
              <a:t>Flies</a:t>
            </a:r>
            <a:r>
              <a:rPr kumimoji="0" lang="en-US" sz="1600" b="1" i="0" u="none" strike="noStrike" kern="1200" cap="none" spc="0" normalizeH="0" noProof="0" dirty="0" smtClean="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rPr>
              <a:t> control by Bait placement &amp; Trapping.</a:t>
            </a:r>
            <a:endParaRPr kumimoji="0" lang="en-US" sz="4400" b="1" i="0" u="none" strike="noStrike" kern="1200" cap="none" spc="0" normalizeH="0" baseline="0" noProof="0" dirty="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76200"/>
            <a:ext cx="741298" cy="1037818"/>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ed-bug-003.png"/>
          <p:cNvPicPr>
            <a:picLocks noChangeAspect="1"/>
          </p:cNvPicPr>
          <p:nvPr/>
        </p:nvPicPr>
        <p:blipFill>
          <a:blip r:embed="rId2" cstate="print"/>
          <a:srcRect l="5333" r="9333"/>
          <a:stretch>
            <a:fillRect/>
          </a:stretch>
        </p:blipFill>
        <p:spPr>
          <a:xfrm>
            <a:off x="1524000" y="914400"/>
            <a:ext cx="6858000" cy="4114800"/>
          </a:xfrm>
          <a:prstGeom prst="rect">
            <a:avLst/>
          </a:prstGeom>
          <a:ln w="38100" cap="sq">
            <a:solidFill>
              <a:srgbClr val="000000"/>
            </a:solidFill>
            <a:prstDash val="solid"/>
            <a:miter lim="800000"/>
          </a:ln>
          <a:effectLst/>
        </p:spPr>
      </p:pic>
      <p:sp>
        <p:nvSpPr>
          <p:cNvPr id="6" name="Title 5"/>
          <p:cNvSpPr txBox="1">
            <a:spLocks/>
          </p:cNvSpPr>
          <p:nvPr/>
        </p:nvSpPr>
        <p:spPr>
          <a:xfrm>
            <a:off x="1496290" y="5119250"/>
            <a:ext cx="6934199" cy="590552"/>
          </a:xfrm>
          <a:prstGeom prst="rect">
            <a:avLst/>
          </a:prstGeom>
        </p:spPr>
        <p:style>
          <a:lnRef idx="2">
            <a:schemeClr val="dk1"/>
          </a:lnRef>
          <a:fillRef idx="1">
            <a:schemeClr val="lt1"/>
          </a:fillRef>
          <a:effectRef idx="0">
            <a:schemeClr val="dk1"/>
          </a:effectRef>
          <a:fontRef idx="minor">
            <a:schemeClr val="dk1"/>
          </a:fontRef>
        </p:style>
        <p:txBody>
          <a:bodyP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dirty="0" smtClean="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rPr>
              <a:t>Bed bug control by spraying  &amp; Hot moisture at Train, Ship, Hotel, Motel, House etc.</a:t>
            </a:r>
            <a:endParaRPr kumimoji="0" lang="en-US" sz="4400" b="1" i="0" u="none" strike="noStrike" kern="1200" cap="none" spc="0" normalizeH="0" baseline="0" noProof="0" dirty="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76200"/>
            <a:ext cx="741298" cy="1037818"/>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08.jpeg.png"/>
          <p:cNvPicPr>
            <a:picLocks noChangeAspect="1"/>
          </p:cNvPicPr>
          <p:nvPr/>
        </p:nvPicPr>
        <p:blipFill>
          <a:blip r:embed="rId2" cstate="print"/>
          <a:srcRect l="7550" t="3108" r="3562" b="11111"/>
          <a:stretch>
            <a:fillRect/>
          </a:stretch>
        </p:blipFill>
        <p:spPr>
          <a:xfrm>
            <a:off x="1447800" y="914400"/>
            <a:ext cx="6858000" cy="4206240"/>
          </a:xfrm>
          <a:prstGeom prst="rect">
            <a:avLst/>
          </a:prstGeom>
          <a:ln>
            <a:noFill/>
          </a:ln>
          <a:effectLst/>
        </p:spPr>
      </p:pic>
      <p:sp>
        <p:nvSpPr>
          <p:cNvPr id="4" name="Title 5"/>
          <p:cNvSpPr txBox="1">
            <a:spLocks/>
          </p:cNvSpPr>
          <p:nvPr/>
        </p:nvSpPr>
        <p:spPr>
          <a:xfrm>
            <a:off x="1454725" y="5153890"/>
            <a:ext cx="6851075" cy="590552"/>
          </a:xfrm>
          <a:prstGeom prst="rect">
            <a:avLst/>
          </a:prstGeom>
        </p:spPr>
        <p:style>
          <a:lnRef idx="2">
            <a:schemeClr val="dk1"/>
          </a:lnRef>
          <a:fillRef idx="1">
            <a:schemeClr val="lt1"/>
          </a:fillRef>
          <a:effectRef idx="0">
            <a:schemeClr val="dk1"/>
          </a:effectRef>
          <a:fontRef idx="minor">
            <a:schemeClr val="dk1"/>
          </a:fontRef>
        </p:style>
        <p:txBody>
          <a:bodyP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dirty="0" smtClean="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rPr>
              <a:t>Termite control by: Residual Spraying (Drilling, Injection, Trenching at pre-construction</a:t>
            </a:r>
            <a:r>
              <a:rPr kumimoji="0" lang="en-US" sz="1600" b="1" i="0" u="none" strike="noStrike" kern="1200" cap="none" spc="0" normalizeH="0" noProof="0" dirty="0" smtClean="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rPr>
              <a:t> &amp; post construction of building, wooden frame etc</a:t>
            </a:r>
            <a:r>
              <a:rPr kumimoji="0" lang="en-US" sz="1600" b="1" i="0" u="none" strike="noStrike" kern="1200" cap="none" spc="0" normalizeH="0" baseline="0" noProof="0" dirty="0" smtClean="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rPr>
              <a:t>.</a:t>
            </a:r>
            <a:endParaRPr kumimoji="0" lang="en-US" sz="4400" b="1" i="0" u="none" strike="noStrike" kern="1200" cap="none" spc="0" normalizeH="0" baseline="0" noProof="0" dirty="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76200"/>
            <a:ext cx="741298" cy="1037818"/>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p:cNvSpPr txBox="1">
            <a:spLocks/>
          </p:cNvSpPr>
          <p:nvPr/>
        </p:nvSpPr>
        <p:spPr>
          <a:xfrm>
            <a:off x="1357312" y="5129208"/>
            <a:ext cx="7224712" cy="357192"/>
          </a:xfrm>
          <a:prstGeom prst="rect">
            <a:avLst/>
          </a:prstGeom>
        </p:spPr>
        <p:style>
          <a:lnRef idx="2">
            <a:schemeClr val="dk1"/>
          </a:lnRef>
          <a:fillRef idx="1">
            <a:schemeClr val="lt1"/>
          </a:fillRef>
          <a:effectRef idx="0">
            <a:schemeClr val="dk1"/>
          </a:effectRef>
          <a:fontRef idx="minor">
            <a:schemeClr val="dk1"/>
          </a:fontRef>
        </p:style>
        <p:txBody>
          <a:bodyP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dirty="0" smtClean="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rPr>
              <a:t>Adult Mosquitoes Control by Fogging at out side of Hotel, House,</a:t>
            </a:r>
            <a:r>
              <a:rPr kumimoji="0" lang="en-US" sz="1600" b="1" i="0" u="none" strike="noStrike" kern="1200" cap="none" spc="0" normalizeH="0" noProof="0" dirty="0" smtClean="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rPr>
              <a:t> Garden etc</a:t>
            </a:r>
            <a:r>
              <a:rPr kumimoji="0" lang="en-US" sz="1600" b="1" i="0" u="none" strike="noStrike" kern="1200" cap="none" spc="0" normalizeH="0" baseline="0" noProof="0" dirty="0" smtClean="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rPr>
              <a:t>.</a:t>
            </a:r>
            <a:endParaRPr kumimoji="0" lang="en-US" sz="4400" b="1" i="0" u="none" strike="noStrike" kern="1200" cap="none" spc="0" normalizeH="0" baseline="0" noProof="0" dirty="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endParaRPr>
          </a:p>
        </p:txBody>
      </p:sp>
      <p:pic>
        <p:nvPicPr>
          <p:cNvPr id="5" name="Picture 4" descr="Fogging-001.jpg"/>
          <p:cNvPicPr>
            <a:picLocks noChangeAspect="1"/>
          </p:cNvPicPr>
          <p:nvPr/>
        </p:nvPicPr>
        <p:blipFill>
          <a:blip r:embed="rId2" cstate="print"/>
          <a:srcRect l="35000"/>
          <a:stretch>
            <a:fillRect/>
          </a:stretch>
        </p:blipFill>
        <p:spPr>
          <a:xfrm>
            <a:off x="1392383" y="914400"/>
            <a:ext cx="7142017" cy="4114800"/>
          </a:xfrm>
          <a:prstGeom prst="rect">
            <a:avLst/>
          </a:prstGeom>
          <a:ln w="38100" cap="sq">
            <a:solidFill>
              <a:srgbClr val="000000"/>
            </a:solidFill>
            <a:prstDash val="solid"/>
            <a:miter lim="800000"/>
          </a:ln>
          <a:effectLst/>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76200"/>
            <a:ext cx="741298" cy="1037818"/>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p:cNvSpPr txBox="1">
            <a:spLocks/>
          </p:cNvSpPr>
          <p:nvPr/>
        </p:nvSpPr>
        <p:spPr>
          <a:xfrm>
            <a:off x="1309255" y="5198483"/>
            <a:ext cx="7258914" cy="364117"/>
          </a:xfrm>
          <a:prstGeom prst="rect">
            <a:avLst/>
          </a:prstGeom>
        </p:spPr>
        <p:style>
          <a:lnRef idx="2">
            <a:schemeClr val="dk1"/>
          </a:lnRef>
          <a:fillRef idx="1">
            <a:schemeClr val="lt1"/>
          </a:fillRef>
          <a:effectRef idx="0">
            <a:schemeClr val="dk1"/>
          </a:effectRef>
          <a:fontRef idx="minor">
            <a:schemeClr val="dk1"/>
          </a:fontRef>
        </p:style>
        <p:txBody>
          <a:bodyP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1600" b="1" dirty="0" smtClean="0">
                <a:effectLst>
                  <a:outerShdw blurRad="50000" dist="30000" dir="5400000" algn="tl" rotWithShape="0">
                    <a:srgbClr val="000000">
                      <a:alpha val="30000"/>
                    </a:srgbClr>
                  </a:outerShdw>
                </a:effectLst>
                <a:latin typeface="Times New Roman" pitchFamily="18" charset="0"/>
                <a:cs typeface="Times New Roman" pitchFamily="18" charset="0"/>
              </a:rPr>
              <a:t>Gel Placement for Cockroaches at Hotel, House, Factories etc.</a:t>
            </a:r>
            <a:endParaRPr kumimoji="0" lang="en-US" sz="4400" b="1" i="0" u="none" strike="noStrike" kern="1200" cap="none" spc="0" normalizeH="0" baseline="0" noProof="0" dirty="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endParaRPr>
          </a:p>
        </p:txBody>
      </p:sp>
      <p:pic>
        <p:nvPicPr>
          <p:cNvPr id="6" name="Picture 5" descr="Gel Apply-001.jpg"/>
          <p:cNvPicPr>
            <a:picLocks noChangeAspect="1"/>
          </p:cNvPicPr>
          <p:nvPr/>
        </p:nvPicPr>
        <p:blipFill>
          <a:blip r:embed="rId2" cstate="print"/>
          <a:stretch>
            <a:fillRect/>
          </a:stretch>
        </p:blipFill>
        <p:spPr>
          <a:xfrm>
            <a:off x="1309260" y="914400"/>
            <a:ext cx="3429000" cy="4191000"/>
          </a:xfrm>
          <a:prstGeom prst="rect">
            <a:avLst/>
          </a:prstGeom>
          <a:ln w="38100" cap="sq">
            <a:solidFill>
              <a:srgbClr val="000000"/>
            </a:solidFill>
            <a:prstDash val="solid"/>
            <a:miter lim="800000"/>
          </a:ln>
          <a:effectLst/>
        </p:spPr>
      </p:pic>
      <p:pic>
        <p:nvPicPr>
          <p:cNvPr id="7" name="Picture 6" descr="images.jpg"/>
          <p:cNvPicPr>
            <a:picLocks noChangeAspect="1"/>
          </p:cNvPicPr>
          <p:nvPr/>
        </p:nvPicPr>
        <p:blipFill>
          <a:blip r:embed="rId3" cstate="print"/>
          <a:stretch>
            <a:fillRect/>
          </a:stretch>
        </p:blipFill>
        <p:spPr>
          <a:xfrm>
            <a:off x="4876800" y="914400"/>
            <a:ext cx="3662706" cy="4191000"/>
          </a:xfrm>
          <a:prstGeom prst="rect">
            <a:avLst/>
          </a:prstGeom>
          <a:ln w="38100" cap="sq">
            <a:solidFill>
              <a:srgbClr val="000000"/>
            </a:solidFill>
            <a:prstDash val="solid"/>
            <a:miter lim="800000"/>
          </a:ln>
          <a:effectLst/>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00" y="76200"/>
            <a:ext cx="741298" cy="1037818"/>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579420" y="457200"/>
            <a:ext cx="6573980" cy="5562600"/>
            <a:chOff x="1579420" y="457200"/>
            <a:chExt cx="6573980" cy="5562600"/>
          </a:xfrm>
        </p:grpSpPr>
        <p:pic>
          <p:nvPicPr>
            <p:cNvPr id="2" name="Picture 1" descr="Spraying-001.jpg"/>
            <p:cNvPicPr>
              <a:picLocks noChangeAspect="1"/>
            </p:cNvPicPr>
            <p:nvPr/>
          </p:nvPicPr>
          <p:blipFill>
            <a:blip r:embed="rId2" cstate="print"/>
            <a:srcRect l="16483"/>
            <a:stretch>
              <a:fillRect/>
            </a:stretch>
          </p:blipFill>
          <p:spPr>
            <a:xfrm>
              <a:off x="1600199" y="3061855"/>
              <a:ext cx="3200400" cy="2468880"/>
            </a:xfrm>
            <a:prstGeom prst="rect">
              <a:avLst/>
            </a:prstGeom>
            <a:ln w="38100" cap="sq">
              <a:solidFill>
                <a:srgbClr val="000000"/>
              </a:solidFill>
              <a:prstDash val="solid"/>
              <a:miter lim="800000"/>
            </a:ln>
            <a:effectLst/>
          </p:spPr>
        </p:pic>
        <p:pic>
          <p:nvPicPr>
            <p:cNvPr id="4" name="Picture 3" descr="Spraying-003.jpg"/>
            <p:cNvPicPr>
              <a:picLocks noChangeAspect="1"/>
            </p:cNvPicPr>
            <p:nvPr/>
          </p:nvPicPr>
          <p:blipFill>
            <a:blip r:embed="rId3" cstate="print"/>
            <a:srcRect l="17107"/>
            <a:stretch>
              <a:fillRect/>
            </a:stretch>
          </p:blipFill>
          <p:spPr>
            <a:xfrm>
              <a:off x="4952999" y="457200"/>
              <a:ext cx="3124200" cy="2468880"/>
            </a:xfrm>
            <a:prstGeom prst="rect">
              <a:avLst/>
            </a:prstGeom>
            <a:ln w="38100" cap="sq">
              <a:solidFill>
                <a:srgbClr val="000000"/>
              </a:solidFill>
              <a:prstDash val="solid"/>
              <a:miter lim="800000"/>
            </a:ln>
            <a:effectLst/>
          </p:spPr>
        </p:pic>
        <p:pic>
          <p:nvPicPr>
            <p:cNvPr id="5" name="Picture 4" descr="Spraying-004.jpg"/>
            <p:cNvPicPr>
              <a:picLocks noChangeAspect="1"/>
            </p:cNvPicPr>
            <p:nvPr/>
          </p:nvPicPr>
          <p:blipFill>
            <a:blip r:embed="rId4" cstate="print"/>
            <a:srcRect l="9615" r="9615" b="15385"/>
            <a:stretch>
              <a:fillRect/>
            </a:stretch>
          </p:blipFill>
          <p:spPr>
            <a:xfrm>
              <a:off x="4953000" y="3075710"/>
              <a:ext cx="3124199" cy="2468880"/>
            </a:xfrm>
            <a:prstGeom prst="rect">
              <a:avLst/>
            </a:prstGeom>
            <a:ln w="38100" cap="sq">
              <a:solidFill>
                <a:srgbClr val="000000"/>
              </a:solidFill>
              <a:prstDash val="solid"/>
              <a:miter lim="800000"/>
            </a:ln>
            <a:effectLst/>
          </p:spPr>
        </p:pic>
        <p:pic>
          <p:nvPicPr>
            <p:cNvPr id="6" name="Picture 5" descr="Spraying-005.jpg"/>
            <p:cNvPicPr>
              <a:picLocks noChangeAspect="1"/>
            </p:cNvPicPr>
            <p:nvPr/>
          </p:nvPicPr>
          <p:blipFill>
            <a:blip r:embed="rId5" cstate="print"/>
            <a:srcRect l="16772" r="35728"/>
            <a:stretch>
              <a:fillRect/>
            </a:stretch>
          </p:blipFill>
          <p:spPr>
            <a:xfrm>
              <a:off x="1593274" y="457200"/>
              <a:ext cx="3200400" cy="2470484"/>
            </a:xfrm>
            <a:prstGeom prst="rect">
              <a:avLst/>
            </a:prstGeom>
            <a:ln w="38100" cap="sq">
              <a:solidFill>
                <a:srgbClr val="000000"/>
              </a:solidFill>
              <a:prstDash val="solid"/>
              <a:miter lim="800000"/>
            </a:ln>
            <a:effectLst/>
          </p:spPr>
        </p:pic>
        <p:sp>
          <p:nvSpPr>
            <p:cNvPr id="7" name="Title 5"/>
            <p:cNvSpPr txBox="1">
              <a:spLocks/>
            </p:cNvSpPr>
            <p:nvPr/>
          </p:nvSpPr>
          <p:spPr>
            <a:xfrm>
              <a:off x="1579420" y="5634903"/>
              <a:ext cx="6573980" cy="384897"/>
            </a:xfrm>
            <a:prstGeom prst="rect">
              <a:avLst/>
            </a:prstGeom>
          </p:spPr>
          <p:style>
            <a:lnRef idx="2">
              <a:schemeClr val="dk1"/>
            </a:lnRef>
            <a:fillRef idx="1">
              <a:schemeClr val="lt1"/>
            </a:fillRef>
            <a:effectRef idx="0">
              <a:schemeClr val="dk1"/>
            </a:effectRef>
            <a:fontRef idx="minor">
              <a:schemeClr val="dk1"/>
            </a:fontRef>
          </p:style>
          <p:txBody>
            <a:bodyP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1600" b="1" dirty="0" smtClean="0">
                  <a:effectLst>
                    <a:outerShdw blurRad="50000" dist="30000" dir="5400000" algn="tl" rotWithShape="0">
                      <a:srgbClr val="000000">
                        <a:alpha val="30000"/>
                      </a:srgbClr>
                    </a:outerShdw>
                  </a:effectLst>
                  <a:latin typeface="Times New Roman" pitchFamily="18" charset="0"/>
                  <a:cs typeface="Times New Roman" pitchFamily="18" charset="0"/>
                </a:rPr>
                <a:t>Residual Spraying at Warehouse, out side and inside of Hotel &amp; Houses.</a:t>
              </a:r>
              <a:endParaRPr kumimoji="0" lang="en-US" sz="4400" b="1" i="0" u="none" strike="noStrike" kern="1200" cap="none" spc="0" normalizeH="0" baseline="0" noProof="0" dirty="0">
                <a:ln>
                  <a:noFill/>
                </a:ln>
                <a:solidFill>
                  <a:schemeClr val="dk1"/>
                </a:solidFill>
                <a:effectLst>
                  <a:outerShdw blurRad="50000" dist="30000" dir="5400000" algn="tl" rotWithShape="0">
                    <a:srgbClr val="000000">
                      <a:alpha val="30000"/>
                    </a:srgbClr>
                  </a:outerShdw>
                </a:effectLst>
                <a:uLnTx/>
                <a:uFillTx/>
                <a:latin typeface="Times New Roman" pitchFamily="18" charset="0"/>
                <a:ea typeface="+mn-ea"/>
                <a:cs typeface="Times New Roman" pitchFamily="18" charset="0"/>
              </a:endParaRPr>
            </a:p>
          </p:txBody>
        </p:sp>
      </p:grpSp>
      <p:pic>
        <p:nvPicPr>
          <p:cNvPr id="9" name="Pictur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2400" y="76200"/>
            <a:ext cx="741298" cy="1037818"/>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09.jpeg.png"/>
          <p:cNvPicPr>
            <a:picLocks noChangeAspect="1"/>
          </p:cNvPicPr>
          <p:nvPr/>
        </p:nvPicPr>
        <p:blipFill>
          <a:blip r:embed="rId2" cstate="print"/>
          <a:srcRect l="1667" t="2143" r="1671"/>
          <a:stretch>
            <a:fillRect/>
          </a:stretch>
        </p:blipFill>
        <p:spPr>
          <a:xfrm>
            <a:off x="1295406" y="990600"/>
            <a:ext cx="7315194" cy="5029200"/>
          </a:xfrm>
          <a:prstGeom prst="rect">
            <a:avLst/>
          </a:prstGeom>
          <a:ln w="88900" cap="sq" cmpd="thickThin">
            <a:solidFill>
              <a:srgbClr val="000000"/>
            </a:solidFill>
            <a:prstDash val="solid"/>
            <a:miter lim="800000"/>
          </a:ln>
          <a:effectLst>
            <a:innerShdw blurRad="76200">
              <a:srgbClr val="000000"/>
            </a:innerShdw>
          </a:effectLst>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76200"/>
            <a:ext cx="741298" cy="1037818"/>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05000" y="1219200"/>
            <a:ext cx="6393105" cy="107721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3200" b="1" dirty="0" smtClean="0">
                <a:latin typeface="Constantia" pitchFamily="18" charset="0"/>
              </a:rPr>
              <a:t>HONORED CLIENT LIST OF </a:t>
            </a:r>
          </a:p>
          <a:p>
            <a:pPr algn="ctr"/>
            <a:r>
              <a:rPr lang="en-US" sz="3200" b="1" dirty="0" smtClean="0">
                <a:latin typeface="Constantia" pitchFamily="18" charset="0"/>
              </a:rPr>
              <a:t>ASIAN PEST CONTROL</a:t>
            </a:r>
            <a:endParaRPr lang="en-US" sz="3200" b="1" dirty="0">
              <a:latin typeface="Constantia" pitchFamily="18" charset="0"/>
            </a:endParaRPr>
          </a:p>
        </p:txBody>
      </p:sp>
      <p:sp>
        <p:nvSpPr>
          <p:cNvPr id="4" name="TextBox 3"/>
          <p:cNvSpPr txBox="1"/>
          <p:nvPr/>
        </p:nvSpPr>
        <p:spPr>
          <a:xfrm>
            <a:off x="2209031" y="2992583"/>
            <a:ext cx="5785042" cy="206210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3200" b="1" dirty="0" smtClean="0">
                <a:latin typeface="Times New Roman" pitchFamily="18" charset="0"/>
                <a:cs typeface="Times New Roman" pitchFamily="18" charset="0"/>
              </a:rPr>
              <a:t>01. Ceylon </a:t>
            </a:r>
            <a:r>
              <a:rPr lang="en-US" sz="3200" b="1" dirty="0" smtClean="0">
                <a:latin typeface="Times New Roman" pitchFamily="18" charset="0"/>
                <a:cs typeface="Times New Roman" pitchFamily="18" charset="0"/>
              </a:rPr>
              <a:t>Biscuits Ltd.                   </a:t>
            </a:r>
            <a:endParaRPr lang="en-US" sz="3200" dirty="0" smtClean="0">
              <a:latin typeface="Times New Roman" pitchFamily="18" charset="0"/>
              <a:cs typeface="Times New Roman" pitchFamily="18" charset="0"/>
            </a:endParaRPr>
          </a:p>
          <a:p>
            <a:r>
              <a:rPr lang="en-US" sz="3200" b="1" dirty="0" smtClean="0">
                <a:latin typeface="Times New Roman" pitchFamily="18" charset="0"/>
                <a:cs typeface="Times New Roman" pitchFamily="18" charset="0"/>
              </a:rPr>
              <a:t>02</a:t>
            </a:r>
            <a:r>
              <a:rPr lang="en-US" sz="3200" b="1" dirty="0">
                <a:latin typeface="Times New Roman" pitchFamily="18" charset="0"/>
                <a:cs typeface="Times New Roman" pitchFamily="18" charset="0"/>
              </a:rPr>
              <a:t>. Crossline </a:t>
            </a:r>
            <a:r>
              <a:rPr lang="en-US" sz="3200" b="1" dirty="0" smtClean="0">
                <a:latin typeface="Times New Roman" pitchFamily="18" charset="0"/>
                <a:cs typeface="Times New Roman" pitchFamily="18" charset="0"/>
              </a:rPr>
              <a:t>Bangladesh. </a:t>
            </a:r>
          </a:p>
          <a:p>
            <a:r>
              <a:rPr lang="en-US" sz="3200" b="1" dirty="0" smtClean="0">
                <a:latin typeface="Times New Roman" pitchFamily="18" charset="0"/>
                <a:cs typeface="Times New Roman" pitchFamily="18" charset="0"/>
              </a:rPr>
              <a:t>03. Cross Prod Bangladesh Ltd.</a:t>
            </a:r>
          </a:p>
          <a:p>
            <a:r>
              <a:rPr lang="en-US" sz="3200" b="1" dirty="0" smtClean="0">
                <a:latin typeface="Times New Roman" pitchFamily="18" charset="0"/>
                <a:cs typeface="Times New Roman" pitchFamily="18" charset="0"/>
              </a:rPr>
              <a:t>04. </a:t>
            </a:r>
            <a:r>
              <a:rPr lang="en-US" sz="3200" b="1" dirty="0" smtClean="0">
                <a:latin typeface="Times New Roman" pitchFamily="18" charset="0"/>
                <a:cs typeface="Times New Roman" pitchFamily="18" charset="0"/>
              </a:rPr>
              <a:t>Secret Recipe.</a:t>
            </a:r>
            <a:endParaRPr lang="en-US" sz="3600" b="1" dirty="0" smtClean="0">
              <a:latin typeface="Times New Roman" pitchFamily="18" charset="0"/>
              <a:cs typeface="Times New Roman" pitchFamily="18" charset="0"/>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 y="76200"/>
            <a:ext cx="741298" cy="1037818"/>
          </a:xfrm>
          <a:prstGeom prst="rect">
            <a:avLst/>
          </a:prstGeom>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themeOverride>
</file>

<file path=docProps/app.xml><?xml version="1.0" encoding="utf-8"?>
<Properties xmlns="http://schemas.openxmlformats.org/officeDocument/2006/extended-properties" xmlns:vt="http://schemas.openxmlformats.org/officeDocument/2006/docPropsVTypes">
  <Template/>
  <TotalTime>740</TotalTime>
  <Words>386</Words>
  <Application>Microsoft Office PowerPoint</Application>
  <PresentationFormat>On-screen Show (4:3)</PresentationFormat>
  <Paragraphs>30</Paragraphs>
  <Slides>16</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16</vt:i4>
      </vt:variant>
    </vt:vector>
  </HeadingPairs>
  <TitlesOfParts>
    <vt:vector size="28" baseType="lpstr">
      <vt:lpstr>Algerian</vt:lpstr>
      <vt:lpstr>Arial</vt:lpstr>
      <vt:lpstr>Calibri</vt:lpstr>
      <vt:lpstr>Constantia</vt:lpstr>
      <vt:lpstr>Georgia</vt:lpstr>
      <vt:lpstr>Gill Sans MT</vt:lpstr>
      <vt:lpstr>Old English Text MT</vt:lpstr>
      <vt:lpstr>Times New Roman</vt:lpstr>
      <vt:lpstr>Verdana</vt:lpstr>
      <vt:lpstr>Vrinda</vt:lpstr>
      <vt:lpstr>Wingdings 2</vt:lpstr>
      <vt:lpstr>Solstice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ADNAN TANVIR</dc:creator>
  <cp:lastModifiedBy>Mohammad Ibrahim</cp:lastModifiedBy>
  <cp:revision>102</cp:revision>
  <cp:lastPrinted>2020-02-03T13:50:59Z</cp:lastPrinted>
  <dcterms:created xsi:type="dcterms:W3CDTF">2006-08-16T00:00:00Z</dcterms:created>
  <dcterms:modified xsi:type="dcterms:W3CDTF">2020-02-03T13:57:25Z</dcterms:modified>
</cp:coreProperties>
</file>